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355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2011680"/>
            <a:ext cx="4937760" cy="4937760"/>
          </a:xfrm>
          <a:prstGeom prst="ellipse">
            <a:avLst/>
          </a:prstGeom>
          <a:solidFill>
            <a:srgbClr val="103C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749040"/>
            <a:ext cx="3840480" cy="3840480"/>
          </a:xfrm>
          <a:prstGeom prst="ellipse">
            <a:avLst/>
          </a:prstGeom>
          <a:solidFill>
            <a:srgbClr val="07242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</a:t>
            </a:r>
            <a:r>
              <a:rPr lang="en-US" sz="1050" b="1" kern="0" spc="300" dirty="0" smtClean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 &amp; Leave Management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108960"/>
            <a:ext cx="4023360" cy="4023360"/>
          </a:xfrm>
          <a:prstGeom prst="ellipse">
            <a:avLst/>
          </a:prstGeom>
          <a:solidFill>
            <a:srgbClr val="103C4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OF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Management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</a:t>
            </a:r>
            <a:r>
              <a:rPr lang="en-US" sz="130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·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029200" cy="2834640"/>
          </a:xfrm>
          <a:prstGeom prst="roundRect">
            <a:avLst>
              <a:gd name="adj" fmla="val 1935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leave-type catalogue (13 types, migrated)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916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 Leave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56232" y="1664208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096" y="16916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Leave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54096" y="1664208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6916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PL_CC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PL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51960" y="1664208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16916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WWC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Women w/ Child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2231136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25856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56232" y="2231136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11096" y="225856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PATL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Paternity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54096" y="2231136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25856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51960" y="2231136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6824" y="225856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" y="2798064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825496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MCL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Miscarriage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56232" y="2798064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11096" y="2825496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54096" y="2798064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2825496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SBL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Sabbatical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51960" y="2798064"/>
            <a:ext cx="1106424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3E0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06824" y="2825496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OH_*_26</a:t>
            </a:r>
            <a:endParaRPr lang="en-US" sz="900" dirty="0"/>
          </a:p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Holidays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" y="3401568"/>
            <a:ext cx="4718304" cy="493776"/>
          </a:xfrm>
          <a:prstGeom prst="roundRect">
            <a:avLst>
              <a:gd name="adj" fmla="val 9259"/>
            </a:avLst>
          </a:prstGeom>
          <a:solidFill>
            <a:srgbClr val="0A2E36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341985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6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 / LOP</a:t>
            </a:r>
            <a:r>
              <a:rPr lang="en-US" sz="86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Always shown in the selector, regardless of balance. Never auto-deducted — the employee must select it (D10).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5715000" y="1188720"/>
            <a:ext cx="29260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61304" y="128016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 — M04 builds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61304" y="1572768"/>
            <a:ext cx="2651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· balances · history · team views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queue, escalation, revocation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Encashment, adjustments, comp-off consumption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Holidays, blackouts, decision matrices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2852928"/>
            <a:ext cx="2926080" cy="1170432"/>
          </a:xfrm>
          <a:prstGeom prst="roundRect">
            <a:avLst>
              <a:gd name="adj" fmla="val 4688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61304" y="29443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861304" y="323697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/ LOP settlement → Phase 2 (M06)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Comp-off earning (OT detection) → M05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LPVY_10 test artefact excluded (D02)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4160520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E4F1F1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2062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— Assignment Frameworks:  </a:t>
            </a: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reach employees via Assignment Frameworks, mutually exclusive by employment type — exactly one policy per leave type per employee.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· ELIGIBILITY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can apply for what — the selector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selector (FR-001 · D09)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37033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only types with available balance &gt; 0</a:t>
            </a:r>
            <a:endParaRPr lang="en-US" sz="10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Unpaid/LOP always listed; zero-balance fallback is Unpaid/LOP only (D10)</a:t>
            </a:r>
            <a:endParaRPr lang="en-US" sz="10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 &amp; SBL hidden until an admin credits a balance for that employee</a:t>
            </a:r>
            <a:endParaRPr lang="en-US" sz="10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/ marital / employment filters remove types entirely (e.g. ML: married only, max 2 in tenure — D11)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99008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30815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 types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" y="3374136"/>
            <a:ext cx="3703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PATL: must be used within 3 months of child's date of birth (D12)</a:t>
            </a:r>
            <a:endParaRPr lang="en-US" sz="10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PL_CC: unused monthly accrual lapses at month-end; annual cap 12 (D13)</a:t>
            </a:r>
            <a:endParaRPr lang="en-US" sz="10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WL: once per tenure (lifetime cap)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77640" cy="3218688"/>
          </a:xfrm>
          <a:prstGeom prst="roundRect">
            <a:avLst>
              <a:gd name="adj" fmla="val 1705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Probation &amp; notice visibility (D19 · D29)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18888" y="1664208"/>
            <a:ext cx="3657600" cy="365760"/>
          </a:xfrm>
          <a:prstGeom prst="rect">
            <a:avLst/>
          </a:prstGeom>
          <a:solidFill>
            <a:srgbClr val="0A2E36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73368" y="1664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Probation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7470648" y="16642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4818888" y="2066544"/>
            <a:ext cx="3657600" cy="402336"/>
          </a:xfrm>
          <a:prstGeom prst="rect">
            <a:avLst/>
          </a:prstGeom>
          <a:solidFill>
            <a:srgbClr val="E4F1F1"/>
          </a:solidFill>
          <a:ln w="6350">
            <a:solidFill>
              <a:srgbClr val="D3E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0665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 Leave (SL)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73368" y="20665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+ apply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7470648" y="206654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+ apply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4818888" y="2468880"/>
            <a:ext cx="3657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3E0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4688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 / LOP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73368" y="246888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+ apply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7470648" y="24688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+ apply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4818888" y="2871216"/>
            <a:ext cx="3657600" cy="402336"/>
          </a:xfrm>
          <a:prstGeom prst="rect">
            <a:avLst/>
          </a:prstGeom>
          <a:solidFill>
            <a:srgbClr val="E4F1F1"/>
          </a:solidFill>
          <a:ln w="6350">
            <a:solidFill>
              <a:srgbClr val="D3E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28712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other types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73368" y="287121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470648" y="2871216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818888" y="3273552"/>
            <a:ext cx="3657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3E0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32735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holidays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73368" y="32735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(D17)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7470648" y="327355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(D18)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4818888" y="3767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 in probation was reversed late (D29) — worth flagging to QA: it overrides the older D19 rule.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· CYCLE &amp; BALANCES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cycle, many balance mechanics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0A2E3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16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26th → 25th.  </a:t>
            </a:r>
            <a:r>
              <a:rPr lang="en-US" sz="100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Leave, LOP and attendance cycles are all aligned to the payroll cutoff — 26th of previous month to 25th of current. Platform-uniform, not configurable per entity (D14). LOP feed to payroll fires on the 25th, calendar-based.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21031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9224" y="2395728"/>
            <a:ext cx="23317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Accrual (SL, PL: quarterly), annual credit, per-event, or on-demand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Pro-rata on joining; tenure brackets can vary allotment by years of service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matrix can drive allotment &amp; accrual per employee (FR-010)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201168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21031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Carrying &amp; pooling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10712" y="2395728"/>
            <a:ext cx="23317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Carry-forward per type with caps and lapse windows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balance: pool several types under one cap, debited in configured order (FR-013)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suggestions warn before CF / comp-off expiry, with a pre-filled apply CTA (FR-016)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201168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21031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&amp; debits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81344" y="2395728"/>
            <a:ext cx="23317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day, half day (first/second session), or hourly for flagged types (FR-017)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Hourly: min duration + rounding multiples; balance shown in hours and day-equivalents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NSD multiplier weights the debit for night-shift leave (FR-019)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LOP policies debit in a fixed order-of-use (FR-020)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· APPROVAL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leave state machine (BRD §8.2)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17320" cy="457200"/>
          </a:xfrm>
          <a:prstGeom prst="roundRect">
            <a:avLst>
              <a:gd name="adj" fmla="val 14000"/>
            </a:avLst>
          </a:prstGeom>
          <a:solidFill>
            <a:srgbClr val="E4F1F1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705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54680" y="196596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9705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STAGE_1_APPROVED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80760" y="196596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D9F4EC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9705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18120" y="1965960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5A71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9705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57400" y="219456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084832" y="2231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0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Stage-1 approve (two-stage)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983480" y="219456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001768" y="22311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0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HRBP / HR Admin / Leave Admin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452360" y="2194560"/>
            <a:ext cx="365760" cy="0"/>
          </a:xfrm>
          <a:prstGeom prst="line">
            <a:avLst/>
          </a:prstGeom>
          <a:noFill/>
          <a:ln w="19050">
            <a:solidFill>
              <a:srgbClr val="5A717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360920" y="2487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8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past-dated only · HRBP / LA / HRA (D26)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3154680" y="114300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154680" y="11475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V="1">
            <a:off x="1371600" y="1627632"/>
            <a:ext cx="1874520" cy="338328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4008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2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days inaction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5074920" y="1207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8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next-level mgr + HRBP / HRA / LA notified · original approver never locked out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3154680" y="3017520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5A71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30220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0" y="2423160"/>
            <a:ext cx="1920240" cy="640080"/>
          </a:xfrm>
          <a:prstGeom prst="line">
            <a:avLst/>
          </a:prstGeom>
          <a:noFill/>
          <a:ln w="19050">
            <a:solidFill>
              <a:srgbClr val="5A71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69080" y="2423160"/>
            <a:ext cx="0" cy="594360"/>
          </a:xfrm>
          <a:prstGeom prst="line">
            <a:avLst/>
          </a:prstGeom>
          <a:noFill/>
          <a:ln w="19050">
            <a:solidFill>
              <a:srgbClr val="5A717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029200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mandatory — both stages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40080" y="3017520"/>
            <a:ext cx="14173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5A71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0220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2423160"/>
            <a:ext cx="0" cy="594360"/>
          </a:xfrm>
          <a:prstGeom prst="line">
            <a:avLst/>
          </a:prstGeom>
          <a:noFill/>
          <a:ln w="19050">
            <a:solidFill>
              <a:srgbClr val="5A71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2057400" y="2423160"/>
            <a:ext cx="1143000" cy="640080"/>
          </a:xfrm>
          <a:prstGeom prst="line">
            <a:avLst/>
          </a:prstGeom>
          <a:noFill/>
          <a:ln w="19050">
            <a:solidFill>
              <a:srgbClr val="5A717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48640" y="3502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8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at SUBMITTED or STAGE_1 — balance never deducted; fully resubmittable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5897880" y="15727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72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Single-stage types go SUBMITTED → APPROVED directly; two-stage (ML · ADL · MCL · SPL · SBL) cannot skip Stage 2 (D05).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897880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72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deducted only here — at final approval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502920" y="397764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0A2E36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050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2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Non-negotiables (D04–D07):  </a:t>
            </a:r>
            <a:r>
              <a:rPr lang="en-US" sz="92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auto-approval, no auto-rejection — locked platform-wide. Any eligible role can act at any stage. Rejection reason mandatory. Leave Admin can do everything L1 + HRBP can — approve, reject, revoke, raise on behalf. Blocked at entry: blackout dates, incomplete profile, past-dating beyond 31 days.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· APPLICATION GUARDRAILS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Per-type guardrails &amp; switched-off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leave type carries its own guardrails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3703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advance notice (days) before the start date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future-dated window per type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 becomes mandatory beyond X days (e.g. long SL)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on applications per month / year / tenure, and min/max consecutive days per application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776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Clubbing restrictions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9744" y="1572768"/>
            <a:ext cx="3703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type lists leave codes it cannot be clubbed with (clubbing_restricted_with) — validated at application time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/ suffix rules around holidays &amp; weekly-offs are per-policy switches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Clubbing across weekly-offs/holidays interacts with the sandwich rule — both are platform-gated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035808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12724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OFF — like the sandwich rule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9224" y="3419856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replacement (swap one approved type for another) — OFF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edit of approved applications — OFF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Auto-approval of revocation requests — OFF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3035808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312724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9744" y="3419856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revoke requests for approved leave — ON (routed per D26)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escalation — ON (the 10-day clock)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past-dated &amp; system-deducted revoke requests by employees — OFF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· RULE ENGINES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configurable engines behind the 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Sandwich rule (FR-009) — ships OFF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37033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ON: spans ≥ threshold (default 5 days) count intervening weekly-offs / holidays as debited leave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flag AND per-policy override must both agree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Month-end auto-cron re-evaluates approved leave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matrix (FR-010)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9744" y="1572768"/>
            <a:ext cx="37033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Tenant-editable lookup: tenure, designation, location, gender, dependants… ≥ 10 dimensions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matching row wins → eligibility, allotment, accrual, validity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Re-evaluated automatically on employment-history change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3977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01752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applications (FR-012)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9224" y="3310128"/>
            <a:ext cx="37033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date ranges allowed across types (e.g. half-day PL + half-day comp-off)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two first-halves / second-halves on the same day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non-LOP debit ≤ 1 day per calendar day; approvals route independently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3977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301752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Blackout windows (FR-007)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9744" y="3310128"/>
            <a:ext cx="37033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windows; partial overlap blocks the whole application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Already-approved leave inside a window is untouched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Bypass: Platform Super Admin + designated permission holders only — audit-flagged. L1/HRBP bypass disabled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· HOLIDAYS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Holiday calendar &amp; optional holidays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master (FR-006)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37033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National · State · Optional · Location-specific</a:t>
            </a:r>
            <a:endParaRPr lang="en-US" sz="10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holidays pre-loaded at provisioning; state holidays per office location</a:t>
            </a:r>
            <a:endParaRPr lang="en-US" sz="10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 holiday entries shipped in the migrated calendar</a:t>
            </a:r>
            <a:endParaRPr lang="en-US" sz="10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Half-day holidays: reserved, OFF in Release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99008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30815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pay &amp; date rules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" y="3374136"/>
            <a:ext cx="3703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pay policy: multiplier × hours for work on flagged holidays; min-hours gate (FR-014) — payout lands in Phase 2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holiday date change (FR-015): capability exists, disabled in Release 1 — fixed dates only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776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holidays (OH_*_26)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1572768"/>
            <a:ext cx="37033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opt-in via application — message mandatory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during probation and notice period (D17 · D18)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past-dated applications; no next-calendar-year applications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if the date already carries approved leave (concurrency error)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Availing cap per year comes from the attendance policy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3584448"/>
            <a:ext cx="3977640" cy="960120"/>
          </a:xfrm>
          <a:prstGeom prst="roundRect">
            <a:avLst>
              <a:gd name="adj" fmla="val 5714"/>
            </a:avLst>
          </a:prstGeom>
          <a:solidFill>
            <a:srgbClr val="E4F1F1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367588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— Assignment Frameworks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9744" y="3968496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groups are targeted via Assignment Frameworks (mutually exclusive) — every employee resolves to exactly one optional-holiday group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· ADMIN OPERATIONS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and corrections: tightly held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encashment (FR-004 · D15/D21/D24/D25)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3703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Admin is the sole authoriser — Leave Admin sees data, cannot act; employees have no role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basic pay ÷ 30 × days · range 3–30 days · intermittent allowed · blocked in probation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opened/closed on demand — no fixed dates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computation defers to Phase 2 where basic pay is absent; FnF encashment tracked separately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77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Revocation (FR-005 · D26)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9744" y="1572768"/>
            <a:ext cx="3703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can never revoke — any level</a:t>
            </a:r>
            <a:endParaRPr lang="en-US" sz="9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HRBP, Leave Admin, HR Admin revoke directly or approve employee revoke requests</a:t>
            </a:r>
            <a:endParaRPr lang="en-US" sz="9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is full-revoke only — partial / replace-with-other-type deferred &amp; hidden</a:t>
            </a:r>
            <a:endParaRPr lang="en-US" sz="9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System-deducted revokes reuse the original approval flow; past-dated revocation reverses balance (payroll flagged)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39776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29184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balance adjustment (FR-021)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9224" y="3584448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Admin only — create, edit, reverse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credit/debit + mandatory reason + effective date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adjustment (and reversal) audit-logged; reflected immediately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663440" y="3200400"/>
            <a:ext cx="39776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329184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Encashment formula engine (FR-018)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9744" y="3584448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Tenant-defined payout formulas over named salary components (+ − × ÷, parentheses)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Rounding per policy; computed amount shown before submission; safe evaluation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· ROLE SURFACES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sees what — the 20 leave screens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06040" cy="3017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233172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for leave (draft + submit)</a:t>
            </a:r>
            <a:endParaRPr lang="en-US" sz="930" dirty="0"/>
          </a:p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leave: balances, history, combined balance</a:t>
            </a:r>
            <a:endParaRPr lang="en-US" sz="930" dirty="0"/>
          </a:p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calendar + optional-holiday application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3273552" y="1188720"/>
            <a:ext cx="2606040" cy="3017520"/>
          </a:xfrm>
          <a:prstGeom prst="roundRect">
            <a:avLst>
              <a:gd name="adj" fmla="val 2105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9856" y="1280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· HOD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19856" y="1572768"/>
            <a:ext cx="233172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queue (any eligible approver)</a:t>
            </a:r>
            <a:endParaRPr lang="en-US" sz="930" dirty="0"/>
          </a:p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leave dashboard: name, type, dates, status, chain — no reason (D23)</a:t>
            </a:r>
            <a:endParaRPr lang="en-US" sz="930" dirty="0"/>
          </a:p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stays clean — dashboard is the only team view (D22/D28); HOD toggles chain ↔ whole department (D27)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044184" y="1188720"/>
            <a:ext cx="2606040" cy="3017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0488" y="1280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Admin · HR Admin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90488" y="1572768"/>
            <a:ext cx="233172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Encashment (HR Admin), revocations, balance adjustments, comp-off tasks</a:t>
            </a:r>
            <a:endParaRPr lang="en-US" sz="930" dirty="0"/>
          </a:p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Config: platform settings, leave &amp; comp-off policies, decision matrices, holiday groups &amp; entries, blackout windows</a:t>
            </a:r>
            <a:endParaRPr lang="en-US" sz="930" dirty="0"/>
          </a:p>
          <a:p>
            <a:pPr marL="101600" indent="-101600">
              <a:lnSpc>
                <a:spcPts val="12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editable by Leave Admin, HR Admin, Org Admin (D08)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design: leave reason is never shown on team surfaces; sensitive types (ML, MCL…) follow field-level access rules from the RBAC design.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108960"/>
            <a:ext cx="4023360" cy="4023360"/>
          </a:xfrm>
          <a:prstGeom prst="ellipse">
            <a:avLst/>
          </a:prstGeom>
          <a:solidFill>
            <a:srgbClr val="103C4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OF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M05 — 17 functional requirements · 22 locked decisions · 16 prototype screen groups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·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migrated policies (DA21)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3703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ATPY_4 — all employees (primary)</a:t>
            </a:r>
            <a:endParaRPr lang="en-US" sz="10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ATPY_5 — on-probation variant</a:t>
            </a:r>
            <a:endParaRPr lang="en-US" sz="10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ATPY_1 — CEO framework (no regularisation limit, check-in disabled, no leave deduction)</a:t>
            </a:r>
            <a:endParaRPr lang="en-US" sz="100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10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ATPY_2 dummy policy excluded as a test artefact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035808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312724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boundaries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" y="3419856"/>
            <a:ext cx="3703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Comp-off earning here → balance &amp; consumption in M04 (one contract: approved OT posts a credit)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Absconding detection here (FR-005) → queue &amp; convert/restore in M03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settlement of OT / LOP → Phase 2 (M06)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77640" cy="3218688"/>
          </a:xfrm>
          <a:prstGeom prst="roundRect">
            <a:avLst>
              <a:gd name="adj" fmla="val 1705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the module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1728216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236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93792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 </a:t>
            </a:r>
            <a:r>
              <a:rPr lang="en-US" sz="9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Clock-in · check-in · biometric — per-employee modality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2258568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2539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93792" y="22219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 </a:t>
            </a:r>
            <a:r>
              <a:rPr lang="en-US" sz="9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Both-punch rule, zero grace, late/early, day status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788920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7843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93792" y="27523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 </a:t>
            </a:r>
            <a:r>
              <a:rPr lang="en-US" sz="9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request types, all human-approved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3319272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3147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93792" y="32826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 </a:t>
            </a:r>
            <a:r>
              <a:rPr lang="en-US" sz="9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deduction, infractions, absconding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3849624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8450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93792" y="38130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 </a:t>
            </a:r>
            <a:r>
              <a:rPr lang="en-US" sz="9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on the 25th, LOP report, registers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· CAPTURE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capture channels, assigned per employee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Clock-In / Out (FR-018)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23317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capture — no approval; web + mobile, second-precision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restriction is the check: office network ranges only (DA06)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punch → regularisation only; the button never back-dates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punches queue &amp; sync; &gt;30 min late syncs flagged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3264408" y="118872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280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/ Out (FR-019 · DA05)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10712" y="1572768"/>
            <a:ext cx="23317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+ 500 m fence + optional selfie — field / remote work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approval required before the record updates; comments mandatory; 15 active fences (DA04)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Selfie &amp; GPS = PII tier-2: encrypted, 90-day retention, access-logged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Disabled entirely for ATPY_1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128016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(secondary)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81344" y="1572768"/>
            <a:ext cx="233172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device punches feed the same attendance record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↔ device mapping; devices are an Org-Admin master, Attendance Admin assigns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failure → day is INCOMPLETE → employee regularises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approval on device punches (unlike Check-In)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0A2E36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611880"/>
            <a:ext cx="7726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4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Modality is a per-employee assignment (FR-020).  </a:t>
            </a:r>
            <a:r>
              <a:rPr lang="en-US" sz="94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/ Employee Admin picks Clock-In, Check-In or Both at Add Employee; location policy sets the default, explicit override wins; changes are audit-logged. Both-punch rule with zero grace time applies everywhere (FR-001): a single punch = INCOMPLETE, treated as absent until regularised. Overnight punches get a next-day prompt — in-fence auto-updates day D, outside-fence routes to L1 (FR-002 · DA14).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· EVALUATION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day is evaluated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234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61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for the day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2148840" y="137160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3761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Punch capture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931920" y="137160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3761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Both-punch check (zero grace)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97880" y="1371600"/>
            <a:ext cx="1234440" cy="502920"/>
          </a:xfrm>
          <a:prstGeom prst="roundRect">
            <a:avLst>
              <a:gd name="adj" fmla="val 12727"/>
            </a:avLst>
          </a:prstGeom>
          <a:solidFill>
            <a:srgbClr val="D9F4EC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3761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43800" y="1371600"/>
            <a:ext cx="1097280" cy="502920"/>
          </a:xfrm>
          <a:prstGeom prst="roundRect">
            <a:avLst>
              <a:gd name="adj" fmla="val 12727"/>
            </a:avLst>
          </a:prstGeom>
          <a:solidFill>
            <a:srgbClr val="E4F1F1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3761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— 25th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737360" y="1618488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20440" y="1618488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0" y="1618488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32320" y="1618488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10312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0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clock-in · check-in · biometric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806440" y="1901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0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OUT_DUTY / on-leave overlays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931920" y="237744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5A71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3820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874520"/>
            <a:ext cx="0" cy="502920"/>
          </a:xfrm>
          <a:prstGeom prst="line">
            <a:avLst/>
          </a:prstGeom>
          <a:noFill/>
          <a:ln w="19050">
            <a:solidFill>
              <a:srgbClr val="5A717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80060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punch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86200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8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treated as absent until regularised (7/month cap)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 flipH="1">
            <a:off x="2651760" y="2606040"/>
            <a:ext cx="1280160" cy="0"/>
          </a:xfrm>
          <a:prstGeom prst="line">
            <a:avLst/>
          </a:prstGeom>
          <a:noFill/>
          <a:ln w="19050">
            <a:solidFill>
              <a:srgbClr val="5A7178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234440" y="2377440"/>
            <a:ext cx="14173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234440" y="23820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Regularise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 flipV="1">
            <a:off x="1920240" y="1874520"/>
            <a:ext cx="0" cy="50292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7200" y="2852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68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→ L1 approval → record corrected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5897880" y="2377440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5A71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3820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12080" y="2606040"/>
            <a:ext cx="685800" cy="0"/>
          </a:xfrm>
          <a:prstGeom prst="line">
            <a:avLst/>
          </a:prstGeom>
          <a:noFill/>
          <a:ln w="19050">
            <a:solidFill>
              <a:srgbClr val="5A7178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85216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68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leave deduction (DA22) · infraction points · absconding counter (7 days)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02920" y="329184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" y="3383280"/>
            <a:ext cx="7845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rules that shape the day (21 migrated shifts, all IST — DA09)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9224" y="3675888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Overnight shifts flag next-day end; overnight punches follow the day-D prompt (DA14) · null / non-schedule shifts can ignore punches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WFH is a shift attribute / attendance reason — never a sixth request type · auto-shift assignment compares previous &amp; next day timings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changes: Attendance Admin / HR Admin only — no employee flow (DA18) · break policies per shift: min/max, paid vs unpaid, auto-deduct (FR-016)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· REQUESTS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request types — every one human-approved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344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Regularisation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2704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missed / wrong punches. Cap 7 per month — 8th blocked, counts even if withdrawn; 32-day back-dating. CEO uncapped. (FR-007)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73552" y="114300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9856" y="12344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Duty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19856" y="152704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work counts as present once approved — no LOP, no balance impact; pending ≠ protection (DA16)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44184" y="114300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0488" y="12344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overtime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90488" y="152704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Pre-approved OT windows; manager/HRBP can raise on behalf (DA17)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532888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62432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Overnight outside-fence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" y="291693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Day-D correction when D+1 punch is outside the fence (DA14)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73552" y="2532888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9856" y="262432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change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19856" y="291693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Admin-only: Attendance Admin / HR Admin act directly. No employee flow exists (DA18)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44184" y="2532888"/>
            <a:ext cx="2596896" cy="1280160"/>
          </a:xfrm>
          <a:prstGeom prst="roundRect">
            <a:avLst>
              <a:gd name="adj" fmla="val 4286"/>
            </a:avLst>
          </a:prstGeom>
          <a:solidFill>
            <a:srgbClr val="E4F1F1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26243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Withdrawal is different here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90488" y="2916936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can withdraw even after approval — the record reverts (§8.3). Leave withdrawal stops at Stage 1.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02920" y="3922776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4F1F1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86784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2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model (DA01 · DA02 · DA13 · DA15):  </a:t>
            </a:r>
            <a:r>
              <a:rPr lang="en-US" sz="92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notified at submission; HRBP / HR Admin / Attendance Admin can act from Stage 1. Escalation after 5 days (leave is 10). Auto-approval OFF for every type — do not restore the source-system defaults. On the 24th–25th, reminders fire every 2 hours until the queue is clear. Rejection reason mandatory.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· CONSEQUENCES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day becomes — and what it costs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5004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0" y="117043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5A7178"/>
          </a:solidFill>
          <a:ln w="9525">
            <a:solidFill>
              <a:srgbClr val="5A71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175004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54680" y="117043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0A2E36"/>
          </a:solidFill>
          <a:ln w="9525">
            <a:solidFill>
              <a:srgbClr val="0A2E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175004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80560" y="117043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75004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DUTY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06440" y="117043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175004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LEAVE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14904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statuses driven by punches, approvals and leave — locked at cycle close.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1874520"/>
            <a:ext cx="39776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19659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leave deduction (DA22)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" y="2258568"/>
            <a:ext cx="3703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day → full-day deduction, automatic, no approval (ATPY_4 debits Paid Leave; ATPY_5 debits Unpaid)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Work-duration: under 4h = half day, under 8h = full day — holidays &amp; weekly-offs excluded from counting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ATPY_1 (CEO): no deduction at all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02920" y="3447288"/>
            <a:ext cx="3977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35387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Infraction framework (FR-009)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" y="383133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/ early-out / missed-punch / AWOL classified daily; points over a rolling window trigger warnings &amp; escalations — framework configurable, points system optional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663440" y="1874520"/>
            <a:ext cx="39776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19659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Absconding (FR-005 · DA20)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9744" y="2258568"/>
            <a:ext cx="3703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consecutive calendar days unauthorised absence → lifecycle = ABSCONDED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Weekly-offs count toward the 7; holidays don't; only approved leave pauses the counter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never auto-clears — HR Admin restores or converts to separation (M03)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663440" y="3447288"/>
            <a:ext cx="3977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35387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9744" y="383133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Continuous-working-days alert at threshold (FR-015) · attendance register with configurable cells &amp; colour-coding (FR-012) · 17 toggleable mobile widgets (FR-013)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· OVERTIME &amp; COMP-OFF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Overtime earns; the leave engine spends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Overtime rules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3703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OT: pre-approved windows; actuals auto-link within tolerance, excess re-routes to approval (FR-008)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Auto-approval OFF for all OT; OT revocation not permitted (DA07)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pay mechanics — keep them apart: day-class multipliers incl. NSD 22:00–06:00 (FR-010) vs hour-band indexing slabs (FR-017). Multipliers stack per policy, audit-logged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77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Comp-off policy OVPY_10 (DA08)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9744" y="1572768"/>
            <a:ext cx="3703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Earn: ≥ 4h qualifying OT = half-day credit; ≥ 8h = full-day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lapses after 1,000 days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Encashment: min 1 · max 30 days; past-dated applications up to 31 days</a:t>
            </a:r>
            <a:endParaRPr lang="en-US" sz="93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Admin initiates comp-off payout — never visible to the employee (M04 D20)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0A2E36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3558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CONTRACT BETWEEN THE MODULES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3611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owns the earning leg — OT detection and the planned-OT / credit request. M04 owns the consumption leg — the comp-off balance, leave application, expiry and encashment, reusing the full leave engine. They meet at exactly one interface: approved qualifying overtime in M05 posts a comp-off credit into the M04 balance. Build nothing else across that line.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· CYCLE CLOSE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Locking the month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lock (FR-006 · DA03/DA19)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37033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lock fires at the payroll cutoff — the 25th (not the 5th; the prototype was corrected)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records are immutable to employees and managers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Unlock: Attendance Admin / HR Admin only — full-period or single-record. Direct action, no approval flow, immutably logged. Managers can never unlock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99008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30815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Revocation (DA11)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" y="3374136"/>
            <a:ext cx="3703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Employee-initiated revocation of approved attendance records is disabled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HRBP, Attendance Admin, HR Admin revoke directly without an employee request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77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LOP &amp; reporting (FR-014)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1572768"/>
            <a:ext cx="37033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LOP report per cycle: include/exclude Absent and Single-Attendance per toggles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on the cron date, emailed to configured recipients; on-demand run also available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Post-lock corrections that cross a sent LOP feed need Payroll acknowledgement (Phase 2)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99008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30815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&amp; exports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9744" y="3374136"/>
            <a:ext cx="3703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register: per-employee per-day grid — shift, punches, requests, deductions, weekly-off/holiday markers; export preserves visible cells (FR-012)</a:t>
            </a:r>
            <a:endParaRPr lang="en-US" sz="950" dirty="0"/>
          </a:p>
          <a:p>
            <a:pPr marL="101600" indent="-101600">
              <a:lnSpc>
                <a:spcPts val="1350"/>
              </a:lnSpc>
              <a:buSzPct val="100000"/>
              <a:buChar char="•"/>
            </a:pPr>
            <a:r>
              <a:rPr lang="en-US" sz="95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reports: summary · exceptions · regularisation usage · absconding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MODULES · CONFIGURATION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ships in the box — migrated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19786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12648" y="16733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policies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Leaves_Policy_Export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87752" y="114300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19786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697480" y="16733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entries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allHolidayExport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72584" y="114300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19786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782312" y="16733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 (all IST)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Attendance_Shift_Export · DA09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57416" y="114300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7144" y="119786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867144" y="16733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policies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ATPY_4 / 5 / 1 · DA21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395728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45059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12648" y="29260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geofences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 radius · DA04/DA05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87752" y="2395728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45059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+ 8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2697480" y="29260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&amp; attendance reasons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company-wide · DA10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72584" y="2395728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45059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4782312" y="29260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weekly-off patterns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Weekly_OffExport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57416" y="2395728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F3F7F8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67144" y="245059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867144" y="29260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unpaid-leave policies</a:t>
            </a:r>
            <a:endParaRPr lang="en-US" sz="9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75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UL_PSI canonical · D03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703320"/>
            <a:ext cx="8138160" cy="1078992"/>
          </a:xfrm>
          <a:prstGeom prst="roundRect">
            <a:avLst>
              <a:gd name="adj" fmla="val 5085"/>
            </a:avLst>
          </a:prstGeom>
          <a:solidFill>
            <a:srgbClr val="E4F1F1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76472"/>
            <a:ext cx="7772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3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CSVs are the field truth.  </a:t>
            </a:r>
            <a:r>
              <a:rPr lang="en-US" sz="93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configuration screen's complete field set and allowed values live in the named export files (leave settings alone carries 131 platform switches; attendance settings 147; a leave policy 253 fields). The prototype shows a representative subset — build the full set from the CSVs, defaulted to the migrated values. Policies, holiday groups, shifts and reasons are all targeted to populations via Assignment Frameworks on the cfg-* Org-Admin screens.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MODULES · OPERATIONAL LAYER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Jobs, notifications, widgets — by name only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jobs — leave (8)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1572768"/>
            <a:ext cx="3703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scan (hourly, 10-day rule) · accrual credit · carry-forward at cycle end · LOP feed (25th)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Sandwich re-evaluation (month-end, gated OFF) · smart-suggestion nudges (daily)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Auto-reject pending (gated; auto-approve stays OFF) · decision-matrix re-eval on employment change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776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2801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jobs — attendance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9744" y="1572768"/>
            <a:ext cx="3703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lock at the 25th cutoff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absconding scan (7-day counter) · daily attendance close feeding infractions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LOP report generation &amp; email on the cron date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scan (5-day rule; 2-hourly on the 24th–25th)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306324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events (BRD §9.2)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9224" y="3355848"/>
            <a:ext cx="3703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— 9 events: submitted · Stage-1 approved · approved · rejected · escalated · revoked · withdrawn · encashment authorised · revoke requested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mirrors the pattern per request type; in-app + email; templates live in the FS message catalogue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3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306324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 &amp; reports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9744" y="3355848"/>
            <a:ext cx="3703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leave widgets, role-gated: balances · pending · team overview · approvals badge · holidays · expiry nudges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toggleable mobile attendance widgets (FR-013)</a:t>
            </a:r>
            <a:endParaRPr lang="en-US" sz="880" dirty="0"/>
          </a:p>
          <a:p>
            <a:pPr marL="101600" indent="-101600">
              <a:lnSpc>
                <a:spcPts val="1150"/>
              </a:lnSpc>
              <a:buSzPct val="100000"/>
              <a:buChar char="•"/>
            </a:pPr>
            <a:r>
              <a:rPr lang="en-US" sz="880" dirty="0">
                <a:solidFill>
                  <a:srgbClr val="0A2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pre-built attendance reports + LOP report + register export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Cadence, idempotency, failure handling and template copy are FS build-layer detail — read FS §7 of each module; this slide only proves the layer exists.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458200" y="47594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PrimeSoft HRMS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206240" cy="4206240"/>
          </a:xfrm>
          <a:prstGeom prst="ellipse">
            <a:avLst/>
          </a:prstGeom>
          <a:solidFill>
            <a:srgbClr val="103C4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THIS SESSION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we'll walk it through — and what we need from you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103C45"/>
          </a:solidFill>
          <a:ln w="9525">
            <a:solidFill>
              <a:srgbClr val="1C5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91056"/>
            <a:ext cx="34015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Rules first, screens second</a:t>
            </a:r>
            <a:endParaRPr lang="en-US" sz="93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sets the business rules; then we click the prototype for each flow so screens are seen with the rules already in mind.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103C45"/>
          </a:solidFill>
          <a:ln w="9525">
            <a:solidFill>
              <a:srgbClr val="1C5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591056"/>
            <a:ext cx="34015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Follow the lifecycle</a:t>
            </a:r>
            <a:endParaRPr lang="en-US" sz="93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Leave: apply → approve → correct → encash. Attendance: capture → evaluate → correct → close. Each stop names its FR / D / DA code.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777240" y="2715768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103C45"/>
          </a:solidFill>
          <a:ln w="9525">
            <a:solidFill>
              <a:srgbClr val="1C5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98064"/>
            <a:ext cx="34015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Decisions are closed</a:t>
            </a:r>
            <a:endParaRPr lang="en-US" sz="93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 and DA registers are locked (Apr 2026). Challenge understanding, not the decisions — anything new goes to the change log.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663440" y="2715768"/>
            <a:ext cx="3657600" cy="1078992"/>
          </a:xfrm>
          <a:prstGeom prst="roundRect">
            <a:avLst>
              <a:gd name="adj" fmla="val 5085"/>
            </a:avLst>
          </a:prstGeom>
          <a:solidFill>
            <a:srgbClr val="103C45"/>
          </a:solidFill>
          <a:ln w="9525">
            <a:solidFill>
              <a:srgbClr val="1C5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798064"/>
            <a:ext cx="34015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Park and trace</a:t>
            </a:r>
            <a:endParaRPr lang="en-US" sz="93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go to a parking lot with the FR/D code attached; answers land in the FS resolution register, never in hallway memory.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3569</Words>
  <Application>Microsoft Office PowerPoint</Application>
  <PresentationFormat>On-screen Show (16:9)</PresentationFormat>
  <Paragraphs>435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PrimeSoft HRMS — Attendance &amp; Leave Requirements Walkthrough</dc:title>
  <dc:subject>PptxGenJS Presentation</dc:subject>
  <dc:creator>PptxGenJS</dc:creator>
  <cp:lastModifiedBy>PrimeSoft</cp:lastModifiedBy>
  <cp:revision>2</cp:revision>
  <dcterms:created xsi:type="dcterms:W3CDTF">2026-07-02T12:07:50Z</dcterms:created>
  <dcterms:modified xsi:type="dcterms:W3CDTF">2026-07-02T13:13:07Z</dcterms:modified>
</cp:coreProperties>
</file>